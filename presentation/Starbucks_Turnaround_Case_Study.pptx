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Starbucks Business Turnaround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Performance Diagnostic • FY2021–FY2025 | Analyst + Consulting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The core issue was traffic/frequency weakness, amplified by store and support-cost deleverage.</a:t>
            </a:r>
          </a:p>
          <a:p>
            <a:pPr>
              <a:spcAft>
                <a:spcPts val="1200"/>
              </a:spcAft>
              <a:defRPr sz="2200"/>
            </a:pPr>
            <a:r>
              <a:t>Starbucks kept growing its footprint, but revenue productivity weakened after FY2023.</a:t>
            </a:r>
          </a:p>
          <a:p>
            <a:pPr>
              <a:spcAft>
                <a:spcPts val="1200"/>
              </a:spcAft>
              <a:defRPr sz="2200"/>
            </a:pPr>
            <a:r>
              <a:t>The turnaround should restore transactions and store economics before accelerating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vs profitability</a:t>
            </a:r>
          </a:p>
        </p:txBody>
      </p:sp>
      <p:pic>
        <p:nvPicPr>
          <p:cNvPr id="3" name="Picture 2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303520" cy="2946400"/>
          </a:xfrm>
          <a:prstGeom prst="rect">
            <a:avLst/>
          </a:prstGeom>
        </p:spPr>
      </p:pic>
      <p:pic>
        <p:nvPicPr>
          <p:cNvPr id="4" name="Picture 3" descr="margin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303520" cy="294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FY2021–FY2025 revenue CAGR was about 6.4%.</a:t>
            </a:r>
          </a:p>
          <a:p>
            <a:pPr>
              <a:spcAft>
                <a:spcPts val="1200"/>
              </a:spcAft>
              <a:defRPr sz="2200"/>
            </a:pPr>
            <a:r>
              <a:t>Operating margin peaked at 16.3% in FY2023 and fell to 7.9% in FY2025.</a:t>
            </a:r>
          </a:p>
          <a:p>
            <a:pPr>
              <a:spcAft>
                <a:spcPts val="1200"/>
              </a:spcAft>
              <a:defRPr sz="2200"/>
            </a:pPr>
            <a:r>
              <a:t>FY2025 operating income was $2.94B vs $5.87B in FY2023.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Traffic is the leading warning signal</a:t>
            </a:r>
          </a:p>
        </p:txBody>
      </p:sp>
      <p:pic>
        <p:nvPicPr>
          <p:cNvPr id="3" name="Picture 2" descr="global_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303520" cy="294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FY2023 global comp: +8%, with transactions +3%.</a:t>
            </a:r>
          </a:p>
          <a:p>
            <a:pPr>
              <a:spcAft>
                <a:spcPts val="1200"/>
              </a:spcAft>
              <a:defRPr sz="2200"/>
            </a:pPr>
            <a:r>
              <a:t>FY2024 global comp: -2%, with transactions -4%.</a:t>
            </a:r>
          </a:p>
          <a:p>
            <a:pPr>
              <a:spcAft>
                <a:spcPts val="1200"/>
              </a:spcAft>
              <a:defRPr sz="2200"/>
            </a:pPr>
            <a:r>
              <a:t>FY2025 global comp: -1%, with transactions -2%.</a:t>
            </a:r>
          </a:p>
          <a:p>
            <a:pPr>
              <a:spcAft>
                <a:spcPts val="1200"/>
              </a:spcAft>
              <a:defRPr sz="2200"/>
            </a:pPr>
            <a:r>
              <a:t>Ticket increases partially masked traffic weakness.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margin fell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Weak traffic created deleverage in company-operated stores.</a:t>
            </a:r>
          </a:p>
          <a:p>
            <a:pPr>
              <a:spcAft>
                <a:spcPts val="1200"/>
              </a:spcAft>
              <a:defRPr sz="2200"/>
            </a:pPr>
            <a:r>
              <a:t>Store operating expenses rose faster than company-operated revenue in FY2025.</a:t>
            </a:r>
          </a:p>
          <a:p>
            <a:pPr>
              <a:spcAft>
                <a:spcPts val="1200"/>
              </a:spcAft>
              <a:defRPr sz="2200"/>
            </a:pPr>
            <a:r>
              <a:t>FY2025 also included $892M of restructuring and impairment expense.</a:t>
            </a:r>
          </a:p>
          <a:p>
            <a:pPr>
              <a:spcAft>
                <a:spcPts val="1200"/>
              </a:spcAft>
              <a:defRPr sz="2200"/>
            </a:pPr>
            <a:r>
              <a:t>Therefore, the answer is not simply 'cut costs'; improve traffic and productivity.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Turnaround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1. Win back traffic: faster service, better peak staffing, simpler routines.</a:t>
            </a:r>
          </a:p>
          <a:p>
            <a:pPr>
              <a:spcAft>
                <a:spcPts val="1200"/>
              </a:spcAft>
              <a:defRPr sz="2200"/>
            </a:pPr>
            <a:r>
              <a:t>2. Simplify: reduce menu/process complexity and improve order sequencing.</a:t>
            </a:r>
          </a:p>
          <a:p>
            <a:pPr>
              <a:spcAft>
                <a:spcPts val="1200"/>
              </a:spcAft>
              <a:defRPr sz="2200"/>
            </a:pPr>
            <a:r>
              <a:t>3. Rebuild the coffeehouse: make the physical experience differentiated.</a:t>
            </a:r>
          </a:p>
          <a:p>
            <a:pPr>
              <a:spcAft>
                <a:spcPts val="1200"/>
              </a:spcAft>
              <a:defRPr sz="2200"/>
            </a:pPr>
            <a:r>
              <a:t>4. Fix unit economics: Grow / Fix / Reformat / Exit store portfolio.</a:t>
            </a:r>
          </a:p>
          <a:p>
            <a:pPr>
              <a:spcAft>
                <a:spcPts val="1200"/>
              </a:spcAft>
              <a:defRPr sz="2200"/>
            </a:pPr>
            <a:r>
              <a:t>5. Manage China as a distinct market with the right local/partner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Illustrative impact model</a:t>
            </a:r>
          </a:p>
        </p:txBody>
      </p:sp>
      <p:pic>
        <p:nvPicPr>
          <p:cNvPr id="3" name="Picture 2" descr="scenario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4008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Illustrative annual operating impact: ~$533M.</a:t>
            </a:r>
          </a:p>
          <a:p>
            <a:pPr>
              <a:spcAft>
                <a:spcPts val="1200"/>
              </a:spcAft>
              <a:defRPr sz="2200"/>
            </a:pPr>
            <a:r>
              <a:t>Assumptions are deliberately explicit and should be stress-tested.</a:t>
            </a:r>
          </a:p>
          <a:p>
            <a:pPr>
              <a:spcAft>
                <a:spcPts val="1200"/>
              </a:spcAft>
              <a:defRPr sz="2200"/>
            </a:pPr>
            <a:r>
              <a:t>This is not Starbucks guidance or a forecast.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0–90 days: store diagnostic, service-time baseline, menu/routine simplification.</a:t>
            </a:r>
          </a:p>
          <a:p>
            <a:pPr>
              <a:spcAft>
                <a:spcPts val="1200"/>
              </a:spcAft>
              <a:defRPr sz="2200"/>
            </a:pPr>
            <a:r>
              <a:t>3–6 months: scale pilots, pricing/Rewards optimization, portfolio actions.</a:t>
            </a:r>
          </a:p>
          <a:p>
            <a:pPr>
              <a:spcAft>
                <a:spcPts val="1200"/>
              </a:spcAft>
              <a:defRPr sz="2200"/>
            </a:pPr>
            <a:r>
              <a:t>6–12 months: reallocate capex, expand winning formats, improve dayparts.</a:t>
            </a:r>
          </a:p>
          <a:p>
            <a:pPr>
              <a:spcAft>
                <a:spcPts val="1200"/>
              </a:spcAft>
              <a:defRPr sz="2200"/>
            </a:pPr>
            <a:r>
              <a:t>12–18 months: reassess portfolio and selectively accelerate growth.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know the strategy is 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Transactions recover first.</a:t>
            </a:r>
          </a:p>
          <a:p>
            <a:pPr>
              <a:spcAft>
                <a:spcPts val="1200"/>
              </a:spcAft>
              <a:defRPr sz="2200"/>
            </a:pPr>
            <a:r>
              <a:t>Revenue/store stabilizes and improves.</a:t>
            </a:r>
          </a:p>
          <a:p>
            <a:pPr>
              <a:spcAft>
                <a:spcPts val="1200"/>
              </a:spcAft>
              <a:defRPr sz="2200"/>
            </a:pPr>
            <a:r>
              <a:t>Store-level productivity improves.</a:t>
            </a:r>
          </a:p>
          <a:p>
            <a:pPr>
              <a:spcAft>
                <a:spcPts val="1200"/>
              </a:spcAft>
              <a:defRPr sz="2200"/>
            </a:pPr>
            <a:r>
              <a:t>Operating margin expands.</a:t>
            </a:r>
          </a:p>
          <a:p>
            <a:pPr>
              <a:spcAft>
                <a:spcPts val="1200"/>
              </a:spcAft>
              <a:defRPr sz="2200"/>
            </a:pPr>
            <a:r>
              <a:t>Only then should net-new store growth accelerate.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Post-period validation: Q3 FY2026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Global comparable store sales: +7.9%.</a:t>
            </a:r>
          </a:p>
          <a:p>
            <a:pPr>
              <a:spcAft>
                <a:spcPts val="1200"/>
              </a:spcAft>
              <a:defRPr sz="2200"/>
            </a:pPr>
            <a:r>
              <a:t>Comparable transactions: +4.2%.</a:t>
            </a:r>
          </a:p>
          <a:p>
            <a:pPr>
              <a:spcAft>
                <a:spcPts val="1200"/>
              </a:spcAft>
              <a:defRPr sz="2200"/>
            </a:pPr>
            <a:r>
              <a:t>Average ticket: +3.5%.</a:t>
            </a:r>
          </a:p>
          <a:p>
            <a:pPr>
              <a:spcAft>
                <a:spcPts val="1200"/>
              </a:spcAft>
              <a:defRPr sz="2200"/>
            </a:pPr>
            <a:r>
              <a:t>GAAP operating margin: 10.5%.</a:t>
            </a:r>
          </a:p>
          <a:p>
            <a:pPr>
              <a:spcAft>
                <a:spcPts val="1200"/>
              </a:spcAft>
              <a:defRPr sz="2200"/>
            </a:pPr>
            <a:r>
              <a:t>This supports the project's central thesis that traffic recovery is a critical leading indicator.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Do not define the turnaround as 'open more stores.'</a:t>
            </a:r>
          </a:p>
          <a:p>
            <a:pPr>
              <a:spcAft>
                <a:spcPts val="1200"/>
              </a:spcAft>
              <a:defRPr sz="2200"/>
            </a:pPr>
            <a:r>
              <a:t>Define it as: make existing stores worth visiting more often, improve unit economics, then grow selectively.</a:t>
            </a:r>
          </a:p>
          <a:p>
            <a:pPr>
              <a:spcAft>
                <a:spcPts val="1200"/>
              </a:spcAft>
              <a:defRPr sz="2200"/>
            </a:pPr>
            <a:r>
              <a:t>Core KPIs: comparable transactions, store productivity, service time, and operating margin.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